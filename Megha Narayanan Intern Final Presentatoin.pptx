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0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83" r:id="rId6"/>
    <p:sldId id="267" r:id="rId7"/>
    <p:sldId id="261" r:id="rId8"/>
    <p:sldId id="263" r:id="rId9"/>
    <p:sldId id="269" r:id="rId10"/>
    <p:sldId id="266" r:id="rId11"/>
    <p:sldId id="265" r:id="rId12"/>
    <p:sldId id="280" r:id="rId13"/>
    <p:sldId id="274" r:id="rId14"/>
    <p:sldId id="272" r:id="rId15"/>
    <p:sldId id="285" r:id="rId16"/>
    <p:sldId id="287" r:id="rId17"/>
    <p:sldId id="276" r:id="rId18"/>
    <p:sldId id="277" r:id="rId19"/>
    <p:sldId id="278" r:id="rId20"/>
    <p:sldId id="282" r:id="rId21"/>
    <p:sldId id="27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E8B5E8-73BB-074A-833C-1B0C8D384872}" v="71" dt="2026-07-29T13:03:32.2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73730"/>
  </p:normalViewPr>
  <p:slideViewPr>
    <p:cSldViewPr snapToGrid="0">
      <p:cViewPr>
        <p:scale>
          <a:sx n="86" d="100"/>
          <a:sy n="86" d="100"/>
        </p:scale>
        <p:origin x="172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4644F-9B12-4B4A-B42C-D6792BDC4C8F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645EC0-817C-E647-92CC-CD89226D0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172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Hover 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Diagnostics 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 synth 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Codelens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Template linking 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VSCode toolkit linking</a:t>
            </a:r>
          </a:p>
          <a:p>
            <a:b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Staleness banners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Yaml/json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 way nav 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Violation filtering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45EC0-817C-E647-92CC-CD89226D0D0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997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7/28/26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49904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74043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7/28/26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105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29811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7/28/26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77786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7/28/26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192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7/28/26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291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7/28/26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1495173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7/28/26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6883397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08482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93754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7/28/26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81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0" r:id="rId1"/>
    <p:sldLayoutId id="2147484111" r:id="rId2"/>
    <p:sldLayoutId id="2147484112" r:id="rId3"/>
    <p:sldLayoutId id="2147484113" r:id="rId4"/>
    <p:sldLayoutId id="2147484114" r:id="rId5"/>
    <p:sldLayoutId id="2147484115" r:id="rId6"/>
    <p:sldLayoutId id="2147484116" r:id="rId7"/>
    <p:sldLayoutId id="2147484117" r:id="rId8"/>
    <p:sldLayoutId id="2147484118" r:id="rId9"/>
    <p:sldLayoutId id="2147484119" r:id="rId10"/>
    <p:sldLayoutId id="2147484120" r:id="rId11"/>
  </p:sldLayoutIdLst>
  <p:hf sldNum="0"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ws/aws-cdk-rfcs/pull/923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thropics/claude-code/issues/64422" TargetMode="External"/><Relationship Id="rId2" Type="http://schemas.openxmlformats.org/officeDocument/2006/relationships/hyperlink" Target="https://github.com/anthropics/claude-code/issues/27692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hub.com/anthropics/claude-code/issues/75881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quip-amazon.com/suPWAbD9aKlx" TargetMode="Externa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8ADF3-D2FC-0BCE-44A7-4496479D24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CDK LSP Intern final demo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69E349-DCB1-96F9-926A-462734A948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Megha Narayanan with AWS CDK CLI Team</a:t>
            </a:r>
          </a:p>
          <a:p>
            <a:r>
              <a:rPr lang="en-US"/>
              <a:t>Summer 2026</a:t>
            </a:r>
          </a:p>
        </p:txBody>
      </p:sp>
    </p:spTree>
    <p:extLst>
      <p:ext uri="{BB962C8B-B14F-4D97-AF65-F5344CB8AC3E}">
        <p14:creationId xmlns:p14="http://schemas.microsoft.com/office/powerpoint/2010/main" val="2289303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90925-9511-A551-6E80-50A11D249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15622"/>
          </a:xfrm>
        </p:spPr>
        <p:txBody>
          <a:bodyPr/>
          <a:lstStyle/>
          <a:p>
            <a:r>
              <a:rPr lang="en-US"/>
              <a:t>Background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42E182-0CAF-B788-C553-4355847AD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971" y="2587168"/>
            <a:ext cx="6922895" cy="39121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5F1C8BE-8289-769A-E01F-FEC4AE127FD2}"/>
              </a:ext>
            </a:extLst>
          </p:cNvPr>
          <p:cNvSpPr txBox="1"/>
          <p:nvPr/>
        </p:nvSpPr>
        <p:spPr>
          <a:xfrm>
            <a:off x="1371600" y="1463784"/>
            <a:ext cx="1049902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Last summer, I worked with Amplify to build Amplify Sandbox DevTools, which streams real-time </a:t>
            </a:r>
          </a:p>
          <a:p>
            <a:r>
              <a:rPr lang="en-US" sz="2000"/>
              <a:t>sandbox console logs and lists all deployed backend resources grouped by service with search, </a:t>
            </a:r>
          </a:p>
          <a:p>
            <a:r>
              <a:rPr lang="en-US" sz="2000"/>
              <a:t>filtering, and deep links into the AWS Console.</a:t>
            </a:r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637403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CC6A3-137B-2039-3264-1214673B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04333"/>
          </a:xfrm>
        </p:spPr>
        <p:txBody>
          <a:bodyPr/>
          <a:lstStyle/>
          <a:p>
            <a:r>
              <a:rPr lang="en-US"/>
              <a:t>Problem +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230C7-F501-DB4B-2F3D-C436FAB1A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90133"/>
            <a:ext cx="9601200" cy="4377267"/>
          </a:xfrm>
        </p:spPr>
        <p:txBody>
          <a:bodyPr/>
          <a:lstStyle/>
          <a:p>
            <a:r>
              <a:rPr lang="en-US"/>
              <a:t>CDK makes infrastructure easy to write but hides what it builds: one new lambda.Function(...) silently creates several CloudFormation resources</a:t>
            </a:r>
          </a:p>
          <a:p>
            <a:r>
              <a:rPr lang="en-US"/>
              <a:t>Seeing what a construct produces is a manual slog: cdk synth, then dig through cdk.out/, then cross-reference tree.json, then jump to the CloudFormation console to trace a resource back to your code.</a:t>
            </a:r>
          </a:p>
          <a:p>
            <a:r>
              <a:rPr lang="en-US"/>
              <a:t>Policy violations surface too late (at synth/deploy) and land on generated resources with no easy link back to the source line that caused them.</a:t>
            </a:r>
          </a:p>
          <a:p>
            <a:r>
              <a:rPr lang="en-US"/>
              <a:t>The data already exists in the synthesized assembly, it's just not surfaced where developers (and AI agents) actually work.</a:t>
            </a:r>
          </a:p>
          <a:p>
            <a:endParaRPr lang="en-US"/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FC500EDE-0F6D-B8E6-447F-61840B2CEA89}"/>
              </a:ext>
            </a:extLst>
          </p:cNvPr>
          <p:cNvSpPr/>
          <p:nvPr/>
        </p:nvSpPr>
        <p:spPr>
          <a:xfrm>
            <a:off x="1478844" y="4741333"/>
            <a:ext cx="9493956" cy="1126067"/>
          </a:xfrm>
          <a:prstGeom prst="wedgeRoundRectCallout">
            <a:avLst>
              <a:gd name="adj1" fmla="val -32843"/>
              <a:gd name="adj2" fmla="val 9458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“I've worked on some gnarly CDK deployments, so something like this would have saved me a fortune on hair dye” – CDK Dev Member</a:t>
            </a:r>
          </a:p>
        </p:txBody>
      </p:sp>
    </p:spTree>
    <p:extLst>
      <p:ext uri="{BB962C8B-B14F-4D97-AF65-F5344CB8AC3E}">
        <p14:creationId xmlns:p14="http://schemas.microsoft.com/office/powerpoint/2010/main" val="4202414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A0DE-7466-875E-A522-DFDD057CA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5311"/>
          </a:xfrm>
        </p:spPr>
        <p:txBody>
          <a:bodyPr/>
          <a:lstStyle/>
          <a:p>
            <a:r>
              <a:rPr lang="en-US"/>
              <a:t>Where I Started + RFC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AC52E-1FF9-5960-9A15-D437D4962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11111"/>
            <a:ext cx="9601200" cy="44562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I started by designing in a public RFC, and getting a ton of feedback from the whole team.</a:t>
            </a:r>
          </a:p>
          <a:p>
            <a:r>
              <a:rPr lang="en-US" b="1"/>
              <a:t>Worked backwards first:</a:t>
            </a:r>
            <a:r>
              <a:rPr lang="en-US"/>
              <a:t> wrote an RFC, an internal design doc, sketched the UI wireframes, wrote up docs on system design alternatives, all by week 2, before building.</a:t>
            </a:r>
          </a:p>
          <a:p>
            <a:r>
              <a:rPr lang="en-US" b="1"/>
              <a:t>The original vision:</a:t>
            </a:r>
            <a:r>
              <a:rPr lang="en-US"/>
              <a:t> two tools sharing one offline core: cdk explore (a three-way linked view: source ↔ construct tree ↔ CloudFormation template) and cdk lsp (in-editor diagnostics, CodeLens, hover) with three-way linked navigation as the headline idea.</a:t>
            </a:r>
          </a:p>
          <a:p>
            <a:r>
              <a:rPr lang="en-US" b="1"/>
              <a:t>Responded to and refined through a lot of feedback and iteration and</a:t>
            </a:r>
            <a:r>
              <a:rPr lang="en-US"/>
              <a:t> ~140 review comments across GitHub and Quip </a:t>
            </a:r>
          </a:p>
        </p:txBody>
      </p:sp>
    </p:spTree>
    <p:extLst>
      <p:ext uri="{BB962C8B-B14F-4D97-AF65-F5344CB8AC3E}">
        <p14:creationId xmlns:p14="http://schemas.microsoft.com/office/powerpoint/2010/main" val="2690360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F87DF-CC98-E7E6-485D-340396D9E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Lots of design evolution…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55E12D-F0EB-90D5-9D5E-845047824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009" y="3589902"/>
            <a:ext cx="2168469" cy="25822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218E1F-D874-72EF-80E0-420FD37AA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009" y="1583042"/>
            <a:ext cx="3913799" cy="18991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6A5B36-C106-4D5A-3BB3-BA16FE8F8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2937" y="3589902"/>
            <a:ext cx="3786059" cy="26874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0087D9-D844-45D1-409E-A6B2DEAF93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6844" y="3589902"/>
            <a:ext cx="3895727" cy="268742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774596E-9BE1-EEF5-46D9-DE972EB3DD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1808" y="1583041"/>
            <a:ext cx="3588301" cy="189914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D4CAB51-20F1-E7A4-F13D-E2E2A21B55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8982" y="1595910"/>
            <a:ext cx="3230014" cy="188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342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9F1DB-7DE9-6A1F-ABF8-700EEEBCF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49489"/>
          </a:xfrm>
        </p:spPr>
        <p:txBody>
          <a:bodyPr/>
          <a:lstStyle/>
          <a:p>
            <a:r>
              <a:rPr lang="en-US"/>
              <a:t>What I Achieved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8664C30-D79F-C587-87E1-74243BAA2FF4}"/>
              </a:ext>
            </a:extLst>
          </p:cNvPr>
          <p:cNvSpPr txBox="1">
            <a:spLocks/>
          </p:cNvSpPr>
          <p:nvPr/>
        </p:nvSpPr>
        <p:spPr>
          <a:xfrm>
            <a:off x="1371600" y="1490133"/>
            <a:ext cx="9601200" cy="4377267"/>
          </a:xfrm>
          <a:prstGeom prst="rect">
            <a:avLst/>
          </a:prstGeom>
        </p:spPr>
        <p:txBody>
          <a:bodyPr/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Authored an accepted public RFC</a:t>
            </a:r>
            <a:r>
              <a:rPr lang="en-US"/>
              <a:t> (</a:t>
            </a:r>
            <a:r>
              <a:rPr lang="en-US">
                <a:hlinkClick r:id="rId2"/>
              </a:rPr>
              <a:t>aws-cdk-rfcs #923</a:t>
            </a:r>
            <a:r>
              <a:rPr lang="en-US"/>
              <a:t>), took the feature through the open community design-review process and got it merged</a:t>
            </a:r>
          </a:p>
          <a:p>
            <a:r>
              <a:rPr lang="en-US" b="1"/>
              <a:t>Shipped cdk lsp (YAY !!!)</a:t>
            </a:r>
            <a:r>
              <a:rPr lang="en-US"/>
              <a:t> the CDK Language Server I built ships in the publicly released aws-cdk CLI (v2.1132.0)</a:t>
            </a:r>
          </a:p>
          <a:p>
            <a:r>
              <a:rPr lang="en-US" b="1"/>
              <a:t>Built the Web Explorer:</a:t>
            </a:r>
            <a:r>
              <a:rPr lang="en-US"/>
              <a:t> a three-way linked view connecting the construct tree ↔ CloudFormation template ↔ source code, with a live violations panel and auto-refresh on re-synth.</a:t>
            </a:r>
          </a:p>
          <a:p>
            <a:r>
              <a:rPr lang="en-US" b="1"/>
              <a:t>Drove cross-team adoption into the VS Code / JetBrains Toolkits:</a:t>
            </a:r>
            <a:r>
              <a:rPr lang="en-US"/>
              <a:t> coordinated with the Toolkit team to open the integration PR surfacing the language server to end users in-editor.</a:t>
            </a:r>
          </a:p>
          <a:p>
            <a:pPr lvl="1"/>
            <a:r>
              <a:rPr lang="en-US" i="0"/>
              <a:t>When this merges, the LSP goes out to up to 5 million users in VSCode alone</a:t>
            </a:r>
            <a:endParaRPr lang="en-US" sz="1800">
              <a:solidFill>
                <a:schemeClr val="tx1"/>
              </a:solidFill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6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D665F-CD0F-5DFE-17BF-AB9D51F03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LSP 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26714-D286-F41E-C5E5-731AAC7F1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Diagnostics, hover, auto-synth, freshness and CodeLenses</a:t>
            </a:r>
          </a:p>
        </p:txBody>
      </p:sp>
    </p:spTree>
    <p:extLst>
      <p:ext uri="{BB962C8B-B14F-4D97-AF65-F5344CB8AC3E}">
        <p14:creationId xmlns:p14="http://schemas.microsoft.com/office/powerpoint/2010/main" val="1873678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4E0BD-A409-497B-5AAF-1E6435AF1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4F9E1-FFED-82BE-CA7F-CDA3B26FE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Explorer 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D2700-A982-D35A-794C-1F127C656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Resource tree, freshness, staleness notifs,and three-way navigation</a:t>
            </a:r>
          </a:p>
        </p:txBody>
      </p:sp>
    </p:spTree>
    <p:extLst>
      <p:ext uri="{BB962C8B-B14F-4D97-AF65-F5344CB8AC3E}">
        <p14:creationId xmlns:p14="http://schemas.microsoft.com/office/powerpoint/2010/main" val="2968329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F7E42-F504-5E3C-E143-7949FE907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Bonus demo: Toolkit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7C5E6-A6A3-BAB6-933D-7B27474B1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Beefed up resource tree in the Toolkit Extension</a:t>
            </a:r>
          </a:p>
        </p:txBody>
      </p:sp>
    </p:spTree>
    <p:extLst>
      <p:ext uri="{BB962C8B-B14F-4D97-AF65-F5344CB8AC3E}">
        <p14:creationId xmlns:p14="http://schemas.microsoft.com/office/powerpoint/2010/main" val="1810370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05F07-F22E-CA04-8220-426CE907C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05933"/>
          </a:xfrm>
        </p:spPr>
        <p:txBody>
          <a:bodyPr/>
          <a:lstStyle/>
          <a:p>
            <a:r>
              <a:rPr lang="en-US"/>
              <a:t>What I Applied From Last Year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78D5FA-81BA-DA37-A367-0E1386E3BADF}"/>
              </a:ext>
            </a:extLst>
          </p:cNvPr>
          <p:cNvSpPr txBox="1"/>
          <p:nvPr/>
        </p:nvSpPr>
        <p:spPr>
          <a:xfrm>
            <a:off x="1371601" y="1591733"/>
            <a:ext cx="10238014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Looking back at my reflection from last year, I had three big areas that I said I would improve, </a:t>
            </a:r>
          </a:p>
          <a:p>
            <a:r>
              <a:rPr lang="en-US" sz="2000"/>
              <a:t>If I had an opportunity to do a similar project again</a:t>
            </a:r>
          </a:p>
          <a:p>
            <a:endParaRPr lang="en-US" sz="2000"/>
          </a:p>
          <a:p>
            <a:r>
              <a:rPr lang="en-US" sz="2000"/>
              <a:t>I would open smaller PRs, and start EARLIER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Last year, I opened 13 PRs with median size of 3,400 lines and my first PR didn't merge until Week 8.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This year I opened 40 PRs with median size of median 640 lines, and merged my first PR in Week 3.</a:t>
            </a:r>
          </a:p>
          <a:p>
            <a:endParaRPr lang="en-US" sz="2000"/>
          </a:p>
          <a:p>
            <a:r>
              <a:rPr lang="en-US" sz="2000"/>
              <a:t>I would set a firm goal for when I would stop implementing new features and focus on refining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Last year, I kept implementing up to my last week.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This year, I scheduled a PRE-demo for Week 10, which was my personal deadline for new features,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where I showed off my product and got feedback from our team to refine my existing design rather than continuing to add more functionality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I would be proactive with AppSec to get my project out of a feature branch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257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C43F-F100-B5BD-DE10-62D3E9A9B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Challenged Me + What I Learned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6633CA-134E-6012-FA1B-9A8BB4F8FAE6}"/>
              </a:ext>
            </a:extLst>
          </p:cNvPr>
          <p:cNvSpPr txBox="1"/>
          <p:nvPr/>
        </p:nvSpPr>
        <p:spPr>
          <a:xfrm>
            <a:off x="1371600" y="1428750"/>
            <a:ext cx="1048789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With such an open ended project, I ended up making a lot of design decisions, some which panned out on my first try, and some which didn’t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Picking a path forward when sometimes there isn’t a nice, clear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The problem (and related features) were dynamic, meant my roadmap updated as I went and I often had to juggle many concurrent lines of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I always underestimate how long appsec (and generally waiting on other teams) will take</a:t>
            </a:r>
          </a:p>
          <a:p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Learned how to take ownership while still acknowledging feedback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/>
              <a:t>Examples: Dropping the VSCode webview, the synth daemon, dropping synth from web explorer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Learned a TON about system design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Learned about security considerations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/>
              <a:t>Like threat modelling + evaluating dependencies,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Learned how to coordinate with my team on multiple moving fronts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/>
              <a:t>Validation work, JSII work, Toolkit work</a:t>
            </a:r>
          </a:p>
          <a:p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613561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739ED-55F9-B951-1E51-6859551EB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685800"/>
            <a:ext cx="9601200" cy="887506"/>
          </a:xfrm>
        </p:spPr>
        <p:txBody>
          <a:bodyPr/>
          <a:lstStyle/>
          <a:p>
            <a:r>
              <a:rPr lang="en-US"/>
              <a:t>Misc. Internship Highlights + Lowlights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07FB20C-9E5C-6F5D-4793-ACBFA3AEF959}"/>
              </a:ext>
            </a:extLst>
          </p:cNvPr>
          <p:cNvSpPr txBox="1">
            <a:spLocks/>
          </p:cNvSpPr>
          <p:nvPr/>
        </p:nvSpPr>
        <p:spPr>
          <a:xfrm>
            <a:off x="1219200" y="1573306"/>
            <a:ext cx="4876800" cy="3823447"/>
          </a:xfrm>
          <a:prstGeom prst="rect">
            <a:avLst/>
          </a:prstGeom>
        </p:spPr>
        <p:txBody>
          <a:bodyPr/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Got to meet w/ Principal Engineer Kamiel Wanrooij (Thank you Mark!)</a:t>
            </a:r>
          </a:p>
          <a:p>
            <a:r>
              <a:rPr lang="en-US"/>
              <a:t>Got banned from Github </a:t>
            </a:r>
            <a:r>
              <a:rPr lang="en-US">
                <a:sym typeface="Wingdings" pitchFamily="2" charset="2"/>
              </a:rPr>
              <a:t></a:t>
            </a:r>
          </a:p>
          <a:p>
            <a:r>
              <a:rPr lang="en-US">
                <a:sym typeface="Wingdings" pitchFamily="2" charset="2"/>
              </a:rPr>
              <a:t>Got to coordinate with people on 3+ other teams </a:t>
            </a:r>
          </a:p>
          <a:p>
            <a:r>
              <a:rPr lang="en-US"/>
              <a:t>Got 8 PR’s approved by Rico with 0 comments!</a:t>
            </a:r>
          </a:p>
          <a:p>
            <a:r>
              <a:rPr lang="en-US"/>
              <a:t>Got Claude to curse at me over a frontend bug </a:t>
            </a:r>
          </a:p>
          <a:p>
            <a:r>
              <a:rPr lang="en-US"/>
              <a:t>Got to merge a (minor) upstream improvement</a:t>
            </a:r>
          </a:p>
          <a:p>
            <a:r>
              <a:rPr lang="en-US"/>
              <a:t>Got mentioned in a Japanese CDK Blog!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62E5DD-3132-8168-3991-99A8E4E63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760" y="1499772"/>
            <a:ext cx="5576770" cy="467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92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4750E-5FEA-782C-4AFF-78413D9E5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Looks awesome for human developers, but what about agents?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3C2D3-3FEB-A67C-CBC4-DF90597D5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Results of my preliminary LSP Agent study</a:t>
            </a:r>
          </a:p>
        </p:txBody>
      </p:sp>
    </p:spTree>
    <p:extLst>
      <p:ext uri="{BB962C8B-B14F-4D97-AF65-F5344CB8AC3E}">
        <p14:creationId xmlns:p14="http://schemas.microsoft.com/office/powerpoint/2010/main" val="863617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5FA2F-74EE-F658-E480-D56D563F2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 does the LSP make agents faster?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777EC-999A-5CBD-4C00-192D4D82F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90133"/>
            <a:ext cx="9601200" cy="4377267"/>
          </a:xfrm>
        </p:spPr>
        <p:txBody>
          <a:bodyPr>
            <a:normAutofit/>
          </a:bodyPr>
          <a:lstStyle/>
          <a:p>
            <a:r>
              <a:rPr lang="en-US"/>
              <a:t>Detailed report: </a:t>
            </a:r>
          </a:p>
          <a:p>
            <a:r>
              <a:rPr lang="en-US"/>
              <a:t>Metrics: agent turns and cost, at equal accuracy.</a:t>
            </a:r>
          </a:p>
          <a:p>
            <a:r>
              <a:rPr lang="en-US"/>
              <a:t>THE TASKS (all ask about facts that only exist after synthesis):</a:t>
            </a:r>
          </a:p>
          <a:p>
            <a:pPr lvl="1"/>
            <a:r>
              <a:rPr lang="en-US" b="1" i="0"/>
              <a:t>explain</a:t>
            </a:r>
            <a:r>
              <a:rPr lang="en-US" i="0"/>
              <a:t>  report a construct's synthesized logical ID and resource type</a:t>
            </a:r>
          </a:p>
          <a:p>
            <a:pPr lvl="1"/>
            <a:r>
              <a:rPr lang="en-US" b="1" i="0"/>
              <a:t>verify</a:t>
            </a:r>
            <a:r>
              <a:rPr lang="en-US" i="0"/>
              <a:t>  is versioning actually on in the synthesized template? yes/no + logical ID</a:t>
            </a:r>
          </a:p>
          <a:p>
            <a:pPr lvl="1"/>
            <a:r>
              <a:rPr lang="en-US" b="1" i="0"/>
              <a:t>resolved</a:t>
            </a:r>
            <a:r>
              <a:rPr lang="en-US" i="0"/>
              <a:t>  what default billing/throughput does this table get? (a default not in source)</a:t>
            </a:r>
          </a:p>
          <a:p>
            <a:pPr lvl="1"/>
            <a:r>
              <a:rPr lang="en-US" b="1" i="0"/>
              <a:t>boundary</a:t>
            </a:r>
            <a:r>
              <a:rPr lang="en-US" i="0"/>
              <a:t> </a:t>
            </a:r>
            <a:r>
              <a:rPr lang="en-US" b="1" i="0"/>
              <a:t>tasks</a:t>
            </a:r>
            <a:r>
              <a:rPr lang="en-US" i="0"/>
              <a:t> (to find where it does not help): fix, debug, audit, write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528B36-FD9B-C0D7-BBC8-90D753213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205430"/>
              </p:ext>
            </p:extLst>
          </p:nvPr>
        </p:nvGraphicFramePr>
        <p:xfrm>
          <a:off x="1371600" y="4686301"/>
          <a:ext cx="9768994" cy="1541542"/>
        </p:xfrm>
        <a:graphic>
          <a:graphicData uri="http://schemas.openxmlformats.org/drawingml/2006/table">
            <a:tbl>
              <a:tblPr/>
              <a:tblGrid>
                <a:gridCol w="1622521">
                  <a:extLst>
                    <a:ext uri="{9D8B030D-6E8A-4147-A177-3AD203B41FA5}">
                      <a16:colId xmlns:a16="http://schemas.microsoft.com/office/drawing/2014/main" val="1023258014"/>
                    </a:ext>
                  </a:extLst>
                </a:gridCol>
                <a:gridCol w="8146473">
                  <a:extLst>
                    <a:ext uri="{9D8B030D-6E8A-4147-A177-3AD203B41FA5}">
                      <a16:colId xmlns:a16="http://schemas.microsoft.com/office/drawing/2014/main" val="3939508273"/>
                    </a:ext>
                  </a:extLst>
                </a:gridCol>
              </a:tblGrid>
              <a:tr h="2508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>
                          <a:solidFill>
                            <a:srgbClr val="71717A"/>
                          </a:solidFill>
                          <a:effectLst/>
                        </a:rPr>
                        <a:t>Arm</a:t>
                      </a:r>
                    </a:p>
                  </a:txBody>
                  <a:tcPr marL="77857" marR="77857" marT="38928" marB="3892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>
                          <a:solidFill>
                            <a:srgbClr val="71717A"/>
                          </a:solidFill>
                          <a:effectLst/>
                        </a:rPr>
                        <a:t>What the agent gets</a:t>
                      </a:r>
                    </a:p>
                  </a:txBody>
                  <a:tcPr marL="77857" marR="77857" marT="38928" marB="3892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467760"/>
                  </a:ext>
                </a:extLst>
              </a:tr>
              <a:tr h="460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LSP (ours)</a:t>
                      </a:r>
                    </a:p>
                  </a:txBody>
                  <a:tcPr marL="77857" marR="77857" marT="38928" marB="3892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CDK language server; hover returns synthesized logical ID, type, resolved properties</a:t>
                      </a:r>
                    </a:p>
                  </a:txBody>
                  <a:tcPr marL="77857" marR="77857" marT="38928" marB="3892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150148"/>
                  </a:ext>
                </a:extLst>
              </a:tr>
              <a:tr h="451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warm grep</a:t>
                      </a:r>
                    </a:p>
                  </a:txBody>
                  <a:tcPr marL="77857" marR="77857" marT="38928" marB="3892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No LSP, fresh template on disk to grep (same on-disk state = fair comparison)</a:t>
                      </a:r>
                    </a:p>
                  </a:txBody>
                  <a:tcPr marL="77857" marR="77857" marT="38928" marB="3892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21745"/>
                  </a:ext>
                </a:extLst>
              </a:tr>
              <a:tr h="322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cold synth</a:t>
                      </a:r>
                    </a:p>
                  </a:txBody>
                  <a:tcPr marL="77857" marR="77857" marT="38928" marB="3892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No LSP, no template; must run cdk synth first</a:t>
                      </a:r>
                    </a:p>
                  </a:txBody>
                  <a:tcPr marL="77857" marR="77857" marT="38928" marB="38928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835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1399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E823A-8D1E-7354-C9E5-C19BA8B63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838200"/>
          </a:xfrm>
        </p:spPr>
        <p:txBody>
          <a:bodyPr/>
          <a:lstStyle/>
          <a:p>
            <a:r>
              <a:rPr lang="en-US"/>
              <a:t>Findings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32D4D7BC-DE58-2447-64D7-FB636144CD9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72" r="16"/>
          <a:stretch>
            <a:fillRect/>
          </a:stretch>
        </p:blipFill>
        <p:spPr>
          <a:xfrm>
            <a:off x="5832079" y="685800"/>
            <a:ext cx="6073474" cy="249796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594C16-6042-CFF2-8BC8-8F962F674C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900" y="1427018"/>
            <a:ext cx="3855720" cy="4745182"/>
          </a:xfrm>
        </p:spPr>
        <p:txBody>
          <a:bodyPr>
            <a:normAutofit/>
          </a:bodyPr>
          <a:lstStyle/>
          <a:p>
            <a:r>
              <a:rPr lang="en-US" sz="2000"/>
              <a:t>Fewer turns: roughly 25 to 40% fewer agent turns on comprehension, both models, at 100% accuracy.</a:t>
            </a:r>
          </a:p>
          <a:p>
            <a:r>
              <a:rPr lang="en-US" sz="2000"/>
              <a:t>Beats even warm grep: on verify, the LSP is cheaper than a baseline that already had the synthesized template on disk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E35DA5B-B570-69C2-FD2A-113F930CB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031233"/>
              </p:ext>
            </p:extLst>
          </p:nvPr>
        </p:nvGraphicFramePr>
        <p:xfrm>
          <a:off x="5832078" y="3674241"/>
          <a:ext cx="6086985" cy="2362247"/>
        </p:xfrm>
        <a:graphic>
          <a:graphicData uri="http://schemas.openxmlformats.org/drawingml/2006/table">
            <a:tbl>
              <a:tblPr/>
              <a:tblGrid>
                <a:gridCol w="822258">
                  <a:extLst>
                    <a:ext uri="{9D8B030D-6E8A-4147-A177-3AD203B41FA5}">
                      <a16:colId xmlns:a16="http://schemas.microsoft.com/office/drawing/2014/main" val="2200924660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3375809498"/>
                    </a:ext>
                  </a:extLst>
                </a:gridCol>
                <a:gridCol w="1108363">
                  <a:extLst>
                    <a:ext uri="{9D8B030D-6E8A-4147-A177-3AD203B41FA5}">
                      <a16:colId xmlns:a16="http://schemas.microsoft.com/office/drawing/2014/main" val="3730302403"/>
                    </a:ext>
                  </a:extLst>
                </a:gridCol>
                <a:gridCol w="1246909">
                  <a:extLst>
                    <a:ext uri="{9D8B030D-6E8A-4147-A177-3AD203B41FA5}">
                      <a16:colId xmlns:a16="http://schemas.microsoft.com/office/drawing/2014/main" val="1177656785"/>
                    </a:ext>
                  </a:extLst>
                </a:gridCol>
                <a:gridCol w="1953491">
                  <a:extLst>
                    <a:ext uri="{9D8B030D-6E8A-4147-A177-3AD203B41FA5}">
                      <a16:colId xmlns:a16="http://schemas.microsoft.com/office/drawing/2014/main" val="1997150237"/>
                    </a:ext>
                  </a:extLst>
                </a:gridCol>
              </a:tblGrid>
              <a:tr h="2802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solidFill>
                            <a:srgbClr val="71717A"/>
                          </a:solidFill>
                          <a:effectLst/>
                        </a:rPr>
                        <a:t>Task</a:t>
                      </a:r>
                    </a:p>
                  </a:txBody>
                  <a:tcPr marL="60702" marR="60702" marT="30351" marB="30351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solidFill>
                            <a:srgbClr val="71717A"/>
                          </a:solidFill>
                          <a:effectLst/>
                        </a:rPr>
                        <a:t>Model</a:t>
                      </a:r>
                    </a:p>
                  </a:txBody>
                  <a:tcPr marL="60702" marR="60702" marT="30351" marB="30351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solidFill>
                            <a:srgbClr val="71717A"/>
                          </a:solidFill>
                          <a:effectLst/>
                        </a:rPr>
                        <a:t>LSP</a:t>
                      </a:r>
                    </a:p>
                  </a:txBody>
                  <a:tcPr marL="60702" marR="60702" marT="30351" marB="30351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solidFill>
                            <a:srgbClr val="71717A"/>
                          </a:solidFill>
                          <a:effectLst/>
                        </a:rPr>
                        <a:t>warm grep</a:t>
                      </a:r>
                    </a:p>
                  </a:txBody>
                  <a:tcPr marL="60702" marR="60702" marT="30351" marB="30351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solidFill>
                            <a:srgbClr val="71717A"/>
                          </a:solidFill>
                          <a:effectLst/>
                        </a:rPr>
                        <a:t>Result</a:t>
                      </a:r>
                    </a:p>
                  </a:txBody>
                  <a:tcPr marL="60702" marR="60702" marT="30351" marB="30351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580185"/>
                  </a:ext>
                </a:extLst>
              </a:tr>
              <a:tr h="520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verify</a:t>
                      </a:r>
                    </a:p>
                  </a:txBody>
                  <a:tcPr marL="60702" marR="60702" marT="30351" marB="30351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opus</a:t>
                      </a:r>
                    </a:p>
                  </a:txBody>
                  <a:tcPr marL="60702" marR="60702" marT="30351" marB="30351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5t / $0.18</a:t>
                      </a:r>
                    </a:p>
                  </a:txBody>
                  <a:tcPr marL="60702" marR="60702" marT="30351" marB="30351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7t / $0.25</a:t>
                      </a:r>
                    </a:p>
                  </a:txBody>
                  <a:tcPr marL="60702" marR="60702" marT="30351" marB="30351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−29% turns, −27% cost</a:t>
                      </a:r>
                    </a:p>
                  </a:txBody>
                  <a:tcPr marL="60702" marR="60702" marT="30351" marB="30351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084789"/>
                  </a:ext>
                </a:extLst>
              </a:tr>
              <a:tr h="520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verify</a:t>
                      </a:r>
                    </a:p>
                  </a:txBody>
                  <a:tcPr marL="60702" marR="60702" marT="30351" marB="30351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haiku</a:t>
                      </a:r>
                    </a:p>
                  </a:txBody>
                  <a:tcPr marL="60702" marR="60702" marT="30351" marB="30351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6t / $0.23</a:t>
                      </a:r>
                    </a:p>
                  </a:txBody>
                  <a:tcPr marL="60702" marR="60702" marT="30351" marB="30351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6.5t / $0.40</a:t>
                      </a:r>
                    </a:p>
                  </a:txBody>
                  <a:tcPr marL="60702" marR="60702" marT="30351" marB="30351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−8% turns, −42% cost</a:t>
                      </a:r>
                    </a:p>
                  </a:txBody>
                  <a:tcPr marL="60702" marR="60702" marT="30351" marB="30351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269767"/>
                  </a:ext>
                </a:extLst>
              </a:tr>
              <a:tr h="520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explain</a:t>
                      </a:r>
                    </a:p>
                  </a:txBody>
                  <a:tcPr marL="60702" marR="60702" marT="30351" marB="30351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opus</a:t>
                      </a:r>
                    </a:p>
                  </a:txBody>
                  <a:tcPr marL="60702" marR="60702" marT="30351" marB="30351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5.5t / $0.20</a:t>
                      </a:r>
                    </a:p>
                  </a:txBody>
                  <a:tcPr marL="60702" marR="60702" marT="30351" marB="30351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7.5t / $0.24</a:t>
                      </a:r>
                    </a:p>
                  </a:txBody>
                  <a:tcPr marL="60702" marR="60702" marT="30351" marB="30351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−27% turns, −17% cost</a:t>
                      </a:r>
                    </a:p>
                  </a:txBody>
                  <a:tcPr marL="60702" marR="60702" marT="30351" marB="30351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501275"/>
                  </a:ext>
                </a:extLst>
              </a:tr>
              <a:tr h="520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explain</a:t>
                      </a:r>
                    </a:p>
                  </a:txBody>
                  <a:tcPr marL="60702" marR="60702" marT="30351" marB="30351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haiku</a:t>
                      </a:r>
                    </a:p>
                  </a:txBody>
                  <a:tcPr marL="60702" marR="60702" marT="30351" marB="30351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5t / $0.20</a:t>
                      </a:r>
                    </a:p>
                  </a:txBody>
                  <a:tcPr marL="60702" marR="60702" marT="30351" marB="30351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7.5t / $0.34</a:t>
                      </a:r>
                    </a:p>
                  </a:txBody>
                  <a:tcPr marL="60702" marR="60702" marT="30351" marB="30351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−33% turns, −41% cost</a:t>
                      </a:r>
                    </a:p>
                  </a:txBody>
                  <a:tcPr marL="60702" marR="60702" marT="30351" marB="30351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613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9507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A0E0C-E84B-3007-AD1E-1220FACC5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9" y="685800"/>
            <a:ext cx="4171041" cy="2157884"/>
          </a:xfrm>
        </p:spPr>
        <p:txBody>
          <a:bodyPr/>
          <a:lstStyle/>
          <a:p>
            <a:r>
              <a:rPr lang="en-US"/>
              <a:t>Task Boundary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B0D2C03-71F8-910B-5C48-DA39DAD2D4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5415393"/>
              </p:ext>
            </p:extLst>
          </p:nvPr>
        </p:nvGraphicFramePr>
        <p:xfrm>
          <a:off x="408579" y="2037112"/>
          <a:ext cx="4486362" cy="3424325"/>
        </p:xfrm>
        <a:graphic>
          <a:graphicData uri="http://schemas.openxmlformats.org/drawingml/2006/table">
            <a:tbl>
              <a:tblPr/>
              <a:tblGrid>
                <a:gridCol w="759488">
                  <a:extLst>
                    <a:ext uri="{9D8B030D-6E8A-4147-A177-3AD203B41FA5}">
                      <a16:colId xmlns:a16="http://schemas.microsoft.com/office/drawing/2014/main" val="3038520933"/>
                    </a:ext>
                  </a:extLst>
                </a:gridCol>
                <a:gridCol w="1953491">
                  <a:extLst>
                    <a:ext uri="{9D8B030D-6E8A-4147-A177-3AD203B41FA5}">
                      <a16:colId xmlns:a16="http://schemas.microsoft.com/office/drawing/2014/main" val="1220806201"/>
                    </a:ext>
                  </a:extLst>
                </a:gridCol>
                <a:gridCol w="1773383">
                  <a:extLst>
                    <a:ext uri="{9D8B030D-6E8A-4147-A177-3AD203B41FA5}">
                      <a16:colId xmlns:a16="http://schemas.microsoft.com/office/drawing/2014/main" val="2492870661"/>
                    </a:ext>
                  </a:extLst>
                </a:gridCol>
              </a:tblGrid>
              <a:tr h="2869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solidFill>
                            <a:srgbClr val="71717A"/>
                          </a:solidFill>
                          <a:effectLst/>
                        </a:rPr>
                        <a:t>Task</a:t>
                      </a:r>
                    </a:p>
                  </a:txBody>
                  <a:tcPr marL="50245" marR="50245" marT="25123" marB="25123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solidFill>
                            <a:srgbClr val="71717A"/>
                          </a:solidFill>
                          <a:effectLst/>
                        </a:rPr>
                        <a:t>What it asks</a:t>
                      </a:r>
                    </a:p>
                  </a:txBody>
                  <a:tcPr marL="50245" marR="50245" marT="25123" marB="25123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solidFill>
                            <a:srgbClr val="71717A"/>
                          </a:solidFill>
                          <a:effectLst/>
                        </a:rPr>
                        <a:t>Why the LSP loses</a:t>
                      </a:r>
                    </a:p>
                  </a:txBody>
                  <a:tcPr marL="50245" marR="50245" marT="25123" marB="25123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292973"/>
                  </a:ext>
                </a:extLst>
              </a:tr>
              <a:tr h="533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fix</a:t>
                      </a:r>
                    </a:p>
                  </a:txBody>
                  <a:tcPr marL="50245" marR="50245" marT="25123" marB="25123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verify from synth, edit source, report ID</a:t>
                      </a:r>
                    </a:p>
                  </a:txBody>
                  <a:tcPr marL="50245" marR="50245" marT="25123" marB="25123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the edit dominates; model dependent</a:t>
                      </a:r>
                    </a:p>
                  </a:txBody>
                  <a:tcPr marL="50245" marR="50245" marT="25123" marB="25123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185705"/>
                  </a:ext>
                </a:extLst>
              </a:tr>
              <a:tr h="533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audit</a:t>
                      </a:r>
                    </a:p>
                  </a:txBody>
                  <a:tcPr marL="50245" marR="50245" marT="25123" marB="25123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list every logical ID in a stack</a:t>
                      </a:r>
                    </a:p>
                  </a:txBody>
                  <a:tcPr marL="50245" marR="50245" marT="25123" marB="25123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one grep beats many per-construct hovers</a:t>
                      </a:r>
                    </a:p>
                  </a:txBody>
                  <a:tcPr marL="50245" marR="50245" marT="25123" marB="25123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140413"/>
                  </a:ext>
                </a:extLst>
              </a:tr>
              <a:tr h="656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write</a:t>
                      </a:r>
                    </a:p>
                  </a:txBody>
                  <a:tcPr marL="50245" marR="50245" marT="25123" marB="25123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predict a not-yet-created construct's ID</a:t>
                      </a:r>
                    </a:p>
                  </a:txBody>
                  <a:tcPr marL="50245" marR="50245" marT="25123" marB="25123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hover only sees the already-synthesized view</a:t>
                      </a:r>
                    </a:p>
                  </a:txBody>
                  <a:tcPr marL="50245" marR="50245" marT="25123" marB="25123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633281"/>
                  </a:ext>
                </a:extLst>
              </a:tr>
              <a:tr h="656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edit-loop</a:t>
                      </a:r>
                    </a:p>
                  </a:txBody>
                  <a:tcPr marL="50245" marR="50245" marT="25123" marB="25123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edit then re-query, repeatedly</a:t>
                      </a:r>
                    </a:p>
                  </a:txBody>
                  <a:tcPr marL="50245" marR="50245" marT="25123" marB="25123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Synth latency is an issue; serves stale after edit</a:t>
                      </a:r>
                    </a:p>
                  </a:txBody>
                  <a:tcPr marL="50245" marR="50245" marT="25123" marB="25123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321256"/>
                  </a:ext>
                </a:extLst>
              </a:tr>
              <a:tr h="656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aspect</a:t>
                      </a:r>
                    </a:p>
                  </a:txBody>
                  <a:tcPr marL="50245" marR="50245" marT="25123" marB="25123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a value an Aspect changed at synth</a:t>
                      </a:r>
                    </a:p>
                  </a:txBody>
                  <a:tcPr marL="50245" marR="50245" marT="25123" marB="25123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baselines read the template too and won in fewer turns</a:t>
                      </a:r>
                    </a:p>
                  </a:txBody>
                  <a:tcPr marL="50245" marR="50245" marT="25123" marB="25123" anchor="ctr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17346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E0A9460-36F5-5A69-D524-29565CE903A8}"/>
              </a:ext>
            </a:extLst>
          </p:cNvPr>
          <p:cNvSpPr txBox="1"/>
          <p:nvPr/>
        </p:nvSpPr>
        <p:spPr>
          <a:xfrm>
            <a:off x="1264989" y="1395410"/>
            <a:ext cx="3088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Where the LSP is NOT helpful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E276A5-B4B3-26FE-26FD-487A312EE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565" y="1238031"/>
            <a:ext cx="6608435" cy="438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25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BE8DB-A35C-FBB9-DCC3-12C47180C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3044"/>
          </a:xfrm>
        </p:spPr>
        <p:txBody>
          <a:bodyPr/>
          <a:lstStyle/>
          <a:p>
            <a:r>
              <a:rPr lang="en-US"/>
              <a:t>The Anthropic-side blocker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D2678C-1265-32B4-2B11-87D6E05D2433}"/>
              </a:ext>
            </a:extLst>
          </p:cNvPr>
          <p:cNvSpPr txBox="1"/>
          <p:nvPr/>
        </p:nvSpPr>
        <p:spPr>
          <a:xfrm>
            <a:off x="1371600" y="1478844"/>
            <a:ext cx="1019951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Claude Code allows only 1 LSP per file extension:</a:t>
            </a:r>
            <a:r>
              <a:rPr lang="en-US" sz="2000"/>
              <a:t> first-registered wins, the loser never starts. </a:t>
            </a:r>
          </a:p>
          <a:p>
            <a:r>
              <a:rPr lang="en-US" sz="2000" b="1"/>
              <a:t>Symptom</a:t>
            </a:r>
            <a:r>
              <a:rPr lang="en-US" sz="2000"/>
              <a:t> (CDK LSP + TypeScript server both on .ts, CDK wins):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hover ✓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goToDefinition ✗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findReferences ✗ → you lose TS navigation</a:t>
            </a:r>
          </a:p>
          <a:p>
            <a:r>
              <a:rPr lang="en-US" sz="2000" b="1"/>
              <a:t>Agent-path only; real IDEs merge servers and coexist fine</a:t>
            </a:r>
          </a:p>
          <a:p>
            <a:endParaRPr lang="en-US" sz="2000" b="1"/>
          </a:p>
          <a:p>
            <a:r>
              <a:rPr lang="en-US" sz="2000" b="1"/>
              <a:t>Upstream: no fix in sight</a:t>
            </a:r>
            <a:endParaRPr lang="en-US" sz="2000"/>
          </a:p>
          <a:p>
            <a:r>
              <a:rPr lang="en-US" sz="2000">
                <a:hlinkClick r:id="rId2"/>
              </a:rPr>
              <a:t>#27692</a:t>
            </a:r>
            <a:r>
              <a:rPr lang="en-US" sz="2000"/>
              <a:t> (multi-server + merge — what we'd need): closed, not planned</a:t>
            </a:r>
          </a:p>
          <a:p>
            <a:r>
              <a:rPr lang="en-US" sz="2000">
                <a:hlinkClick r:id="rId3"/>
              </a:rPr>
              <a:t>#64422</a:t>
            </a:r>
            <a:r>
              <a:rPr lang="en-US" sz="2000"/>
              <a:t> (silent first-wins overwrite): closed, not planned</a:t>
            </a:r>
          </a:p>
          <a:p>
            <a:r>
              <a:rPr lang="en-US" sz="2000">
                <a:hlinkClick r:id="rId4"/>
              </a:rPr>
              <a:t>#75881</a:t>
            </a:r>
            <a:r>
              <a:rPr lang="en-US" sz="2000"/>
              <a:t> (only open one): failure-isolation only, doesn't enable co-serving</a:t>
            </a:r>
          </a:p>
          <a:p>
            <a:r>
              <a:rPr lang="en-US" sz="2000"/>
              <a:t>Side note: Claude Code mass-closes issues (they have 13k+ open right now), so "not planned" is not </a:t>
            </a:r>
            <a:r>
              <a:rPr lang="en-US" sz="2000" i="1"/>
              <a:t>necessarily</a:t>
            </a:r>
            <a:r>
              <a:rPr lang="en-US" sz="2000"/>
              <a:t> a forever not-happening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793350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43886-0BD8-10C8-0EE2-A49EB6336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BFE84-7936-6AC1-A69C-7102FBFDF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left and  What’s next?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B23C3-4646-8F2F-F0D1-7DE6ACC5E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Pending items and features I would love to see in the future</a:t>
            </a:r>
          </a:p>
        </p:txBody>
      </p:sp>
    </p:spTree>
    <p:extLst>
      <p:ext uri="{BB962C8B-B14F-4D97-AF65-F5344CB8AC3E}">
        <p14:creationId xmlns:p14="http://schemas.microsoft.com/office/powerpoint/2010/main" val="16898030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1B26A-26D3-11B9-1F35-E0D5C6437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 items + handoff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419A5-2EFD-53A2-81C4-6E619B821765}"/>
              </a:ext>
            </a:extLst>
          </p:cNvPr>
          <p:cNvSpPr txBox="1">
            <a:spLocks/>
          </p:cNvSpPr>
          <p:nvPr/>
        </p:nvSpPr>
        <p:spPr>
          <a:xfrm>
            <a:off x="1371600" y="1501422"/>
            <a:ext cx="9601200" cy="4365978"/>
          </a:xfrm>
          <a:prstGeom prst="rect">
            <a:avLst/>
          </a:prstGeom>
        </p:spPr>
        <p:txBody>
          <a:bodyPr/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Knowledge transfer document (and todos)</a:t>
            </a:r>
          </a:p>
          <a:p>
            <a:r>
              <a:rPr lang="en-US"/>
              <a:t>Merge ’cdk explore’ to main </a:t>
            </a:r>
          </a:p>
          <a:p>
            <a:r>
              <a:rPr lang="en-US"/>
              <a:t>Merge LSP + Construct Tree to VSCode Toolkit Extension</a:t>
            </a:r>
          </a:p>
          <a:p>
            <a:r>
              <a:rPr lang="en-US"/>
              <a:t>Merge LSP to JetBrains </a:t>
            </a:r>
          </a:p>
          <a:p>
            <a:r>
              <a:rPr lang="en-US"/>
              <a:t>Improve Claude integration</a:t>
            </a:r>
          </a:p>
        </p:txBody>
      </p:sp>
    </p:spTree>
    <p:extLst>
      <p:ext uri="{BB962C8B-B14F-4D97-AF65-F5344CB8AC3E}">
        <p14:creationId xmlns:p14="http://schemas.microsoft.com/office/powerpoint/2010/main" val="2238292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C3526-CAF5-9DAC-DF23-6D3AAC86B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10491"/>
          </a:xfrm>
        </p:spPr>
        <p:txBody>
          <a:bodyPr/>
          <a:lstStyle/>
          <a:p>
            <a:r>
              <a:rPr lang="en-US"/>
              <a:t>Telemetry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AF9120-5E1F-6DAB-AFB1-6A20493385A7}"/>
              </a:ext>
            </a:extLst>
          </p:cNvPr>
          <p:cNvSpPr txBox="1"/>
          <p:nvPr/>
        </p:nvSpPr>
        <p:spPr>
          <a:xfrm>
            <a:off x="1371600" y="1496291"/>
            <a:ext cx="98644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Goal is to collect data on 1) how the LSP is being used 2) if it is working as it should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Proposal: </a:t>
            </a:r>
            <a:r>
              <a:rPr lang="en-US" sz="2400">
                <a:hlinkClick r:id="rId2"/>
              </a:rPr>
              <a:t>https://quip-amazon.com/suPWAbD9aKlx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Collects only counts, durations, and small labels, around four questions: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/>
              <a:t>Adoption: who uses it, which routes, editors and languages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/>
              <a:t>Performance: is it fast (synth latency)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/>
              <a:t>Reliability: is it working or failing quietly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/>
              <a:t>Coverage: do constructs link to source and violations land right</a:t>
            </a:r>
          </a:p>
        </p:txBody>
      </p:sp>
    </p:spTree>
    <p:extLst>
      <p:ext uri="{BB962C8B-B14F-4D97-AF65-F5344CB8AC3E}">
        <p14:creationId xmlns:p14="http://schemas.microsoft.com/office/powerpoint/2010/main" val="2636258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DA9B3-643E-D25F-1EA8-74E3635E74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YOU!!!!</a:t>
            </a:r>
          </a:p>
        </p:txBody>
      </p:sp>
    </p:spTree>
    <p:extLst>
      <p:ext uri="{BB962C8B-B14F-4D97-AF65-F5344CB8AC3E}">
        <p14:creationId xmlns:p14="http://schemas.microsoft.com/office/powerpoint/2010/main" val="1621233461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A2E40"/>
      </a:dk2>
      <a:lt2>
        <a:srgbClr val="EBE7DD"/>
      </a:lt2>
      <a:accent1>
        <a:srgbClr val="69A1AB"/>
      </a:accent1>
      <a:accent2>
        <a:srgbClr val="F2C418"/>
      </a:accent2>
      <a:accent3>
        <a:srgbClr val="87492C"/>
      </a:accent3>
      <a:accent4>
        <a:srgbClr val="4A845E"/>
      </a:accent4>
      <a:accent5>
        <a:srgbClr val="DC9528"/>
      </a:accent5>
      <a:accent6>
        <a:srgbClr val="9A5D78"/>
      </a:accent6>
      <a:hlink>
        <a:srgbClr val="66C8E3"/>
      </a:hlink>
      <a:folHlink>
        <a:srgbClr val="B162A1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1126</TotalTime>
  <Words>1587</Words>
  <Application>Microsoft Macintosh PowerPoint</Application>
  <PresentationFormat>Widescreen</PresentationFormat>
  <Paragraphs>176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Franklin Gothic Book</vt:lpstr>
      <vt:lpstr>Wingdings</vt:lpstr>
      <vt:lpstr>Crop</vt:lpstr>
      <vt:lpstr>CDK LSP Intern final demo</vt:lpstr>
      <vt:lpstr>Background</vt:lpstr>
      <vt:lpstr>Problem + Motivation</vt:lpstr>
      <vt:lpstr>Where I Started + RFC</vt:lpstr>
      <vt:lpstr>Lots of design evolution…</vt:lpstr>
      <vt:lpstr>What I Achieved</vt:lpstr>
      <vt:lpstr>LSP Demo</vt:lpstr>
      <vt:lpstr>Explorer Demo</vt:lpstr>
      <vt:lpstr>Bonus demo: Toolkit</vt:lpstr>
      <vt:lpstr>What I Applied From Last Year</vt:lpstr>
      <vt:lpstr>What Challenged Me + What I Learned</vt:lpstr>
      <vt:lpstr>Misc. Internship Highlights + Lowlights</vt:lpstr>
      <vt:lpstr>Looks awesome for human developers, but what about agents? </vt:lpstr>
      <vt:lpstr>So does the LSP make agents faster?</vt:lpstr>
      <vt:lpstr>Findings</vt:lpstr>
      <vt:lpstr>Task Boundary</vt:lpstr>
      <vt:lpstr>The Anthropic-side blocker</vt:lpstr>
      <vt:lpstr>What’s left and  What’s next?</vt:lpstr>
      <vt:lpstr>Open items + handoff</vt:lpstr>
      <vt:lpstr>Telemetry</vt:lpstr>
      <vt:lpstr>THANK YOU!!!!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Narayanan, Megha</dc:creator>
  <cp:lastModifiedBy>Narayanan, Megha</cp:lastModifiedBy>
  <cp:revision>2</cp:revision>
  <cp:lastPrinted>2026-07-28T19:44:48Z</cp:lastPrinted>
  <dcterms:created xsi:type="dcterms:W3CDTF">2026-07-28T19:02:41Z</dcterms:created>
  <dcterms:modified xsi:type="dcterms:W3CDTF">2026-07-29T14:12:07Z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b19ca94-c290-44a3-80c4-dfd6adf0620b_Enabled">
    <vt:lpwstr>true</vt:lpwstr>
  </property>
  <property fmtid="{D5CDD505-2E9C-101B-9397-08002B2CF9AE}" pid="3" name="MSIP_Label_eb19ca94-c290-44a3-80c4-dfd6adf0620b_SetDate">
    <vt:lpwstr>2026-07-28T20:08:02Z</vt:lpwstr>
  </property>
  <property fmtid="{D5CDD505-2E9C-101B-9397-08002B2CF9AE}" pid="4" name="MSIP_Label_eb19ca94-c290-44a3-80c4-dfd6adf0620b_Method">
    <vt:lpwstr>Privileged</vt:lpwstr>
  </property>
  <property fmtid="{D5CDD505-2E9C-101B-9397-08002B2CF9AE}" pid="5" name="MSIP_Label_eb19ca94-c290-44a3-80c4-dfd6adf0620b_Name">
    <vt:lpwstr>Amazon Public</vt:lpwstr>
  </property>
  <property fmtid="{D5CDD505-2E9C-101B-9397-08002B2CF9AE}" pid="6" name="MSIP_Label_eb19ca94-c290-44a3-80c4-dfd6adf0620b_SiteId">
    <vt:lpwstr>5280104a-472d-4538-9ccf-1e1d0efe8b1b</vt:lpwstr>
  </property>
  <property fmtid="{D5CDD505-2E9C-101B-9397-08002B2CF9AE}" pid="7" name="MSIP_Label_eb19ca94-c290-44a3-80c4-dfd6adf0620b_ActionId">
    <vt:lpwstr>b3c9cb72-013e-4e67-a703-9edfa9699ea7</vt:lpwstr>
  </property>
  <property fmtid="{D5CDD505-2E9C-101B-9397-08002B2CF9AE}" pid="8" name="MSIP_Label_eb19ca94-c290-44a3-80c4-dfd6adf0620b_ContentBits">
    <vt:lpwstr>0</vt:lpwstr>
  </property>
  <property fmtid="{D5CDD505-2E9C-101B-9397-08002B2CF9AE}" pid="9" name="MSIP_Label_eb19ca94-c290-44a3-80c4-dfd6adf0620b_Tag">
    <vt:lpwstr>50, 0, 1, 1</vt:lpwstr>
  </property>
</Properties>
</file>